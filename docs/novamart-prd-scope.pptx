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NOVAMART · CAPSTONE · DEFINE PHASE COMPLETE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 Crew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 review — what we are building first, and what we are deliberately not building.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4348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MVP features locked   ·   6 agents   ·   0 money-moving actions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project-context/1.define/prd.md — status FINAL-FOR-BUILD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37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breaks on multi-step journeys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patterns — ticket queues, FAQ loops, one generic bot — handle single questions. They fail the actual journey: look up the order, apply the policy, give advice, then escalate with context.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0292" cy="71323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repetitive 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7249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and policy questions dominate volume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2487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50292" cy="71323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plan confusion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36393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Trial-to-paid conversion slipped 28% → 22%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trialist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0292" cy="71323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279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issue spikes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5537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v3.2.0 ticket cluster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4315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+ 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50292" cy="71323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193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lack context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54681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re-ask what the bot already knew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5230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8120" y="1371600"/>
            <a:ext cx="3730752" cy="4754880"/>
          </a:xfrm>
          <a:prstGeom prst="roundRect">
            <a:avLst>
              <a:gd name="adj" fmla="val 2451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83880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47,199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183880" y="2514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8388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183880" y="33558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3767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5,513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183880" y="41970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4608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183880" y="50383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5440680"/>
            <a:ext cx="30175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5559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from these tables — never from model recall.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1908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§1 Problem Statement; NovaMart practice DuckDB (inspected 2026-08-08)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37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tiers. Only the first one is the MVP.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already decided and frozen in the PRD. The MVP is tier one — nothing else is scheduled.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20824"/>
            <a:ext cx="6858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295144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951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2121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P0 features. Chat, 6 agents, grounded reads, escalation, trace, evals.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3252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build.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072384"/>
            <a:ext cx="68580" cy="8229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" y="3346704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34670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features. Soft-login, promo-aware answers, similar tickets, Spanish.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3337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for the demo.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123944"/>
            <a:ext cx="68580" cy="822960"/>
          </a:xfrm>
          <a:prstGeom prst="rect">
            <a:avLst/>
          </a:prstGeom>
          <a:solidFill>
            <a:srgbClr val="7C8AA5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" y="4398264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7C8AA5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3982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features. Analytics dashboard, L1 copilot, write APIs, omnichannel.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32520" y="4389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new PRD revision.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0879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5175504"/>
            <a:ext cx="68580" cy="82296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" y="5449824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E4572E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4498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57400" y="5276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EXCLUSION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5740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refund execution, card data, real PII, replacing legal review.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732520" y="5440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Never, at any tier.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641908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§4 — P0 / P1 / P2 / OUT-01. Capstone freeze: build P0 only.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37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BUILD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MVP: 13 features, three jobs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07040" y="658368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6583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465576" cy="36576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3465576" cy="685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916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a conversation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96112" y="2286000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2212848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F-CHAT-01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15568" y="24414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 UI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" y="2852928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277977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F-TRIAGE-01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3008376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entity routing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" y="3419856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346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F-ORCH-01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5568" y="357530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limits, loop guards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112" y="3986784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391363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F-CSAT-01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15568" y="41422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Post-resolution survey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1688" y="1481328"/>
            <a:ext cx="3465576" cy="36576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1688" y="1481328"/>
            <a:ext cx="346557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6916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from facts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617720" y="2286000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837176" y="2212848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F-FAQ-01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37176" y="24414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answers with citations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17720" y="2852928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837176" y="277977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F-ORDER-01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37176" y="3008376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and items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3419856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37176" y="3346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F-PLUS-01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37176" y="357530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status and rules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17720" y="3986784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837176" y="391363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F-RET-01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37176" y="41422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advice — advice only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17720" y="4553712"/>
            <a:ext cx="118872" cy="1188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837176" y="448056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F-TIME-01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37176" y="470916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2024 data demo-current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83296" y="1481328"/>
            <a:ext cx="3465576" cy="365760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83296" y="1481328"/>
            <a:ext cx="3465576" cy="68580"/>
          </a:xfrm>
          <a:prstGeom prst="rect">
            <a:avLst/>
          </a:prstGeom>
          <a:solidFill>
            <a:srgbClr val="7C8AA5"/>
          </a:solidFill>
          <a:ln/>
        </p:spPr>
      </p:sp>
      <p:sp>
        <p:nvSpPr>
          <p:cNvPr id="41" name="Text 39"/>
          <p:cNvSpPr/>
          <p:nvPr/>
        </p:nvSpPr>
        <p:spPr>
          <a:xfrm>
            <a:off x="8339328" y="169164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worked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339328" y="2286000"/>
            <a:ext cx="118872" cy="118872"/>
          </a:xfrm>
          <a:prstGeom prst="ellipse">
            <a:avLst/>
          </a:prstGeom>
          <a:solidFill>
            <a:srgbClr val="7C8AA5"/>
          </a:solidFill>
          <a:ln/>
        </p:spPr>
      </p:sp>
      <p:sp>
        <p:nvSpPr>
          <p:cNvPr id="43" name="Text 41"/>
          <p:cNvSpPr/>
          <p:nvPr/>
        </p:nvSpPr>
        <p:spPr>
          <a:xfrm>
            <a:off x="8558784" y="2212848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F-ESC-01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558784" y="24414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package + ticket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339328" y="2852928"/>
            <a:ext cx="118872" cy="118872"/>
          </a:xfrm>
          <a:prstGeom prst="ellipse">
            <a:avLst/>
          </a:prstGeom>
          <a:solidFill>
            <a:srgbClr val="7C8AA5"/>
          </a:solidFill>
          <a:ln/>
        </p:spPr>
      </p:sp>
      <p:sp>
        <p:nvSpPr>
          <p:cNvPr id="46" name="Text 44"/>
          <p:cNvSpPr/>
          <p:nvPr/>
        </p:nvSpPr>
        <p:spPr>
          <a:xfrm>
            <a:off x="8558784" y="2779776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F-TICKET-01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558784" y="3008376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App-issue intake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39328" y="3419856"/>
            <a:ext cx="118872" cy="118872"/>
          </a:xfrm>
          <a:prstGeom prst="ellipse">
            <a:avLst/>
          </a:prstGeom>
          <a:solidFill>
            <a:srgbClr val="7C8AA5"/>
          </a:solidFill>
          <a:ln/>
        </p:spPr>
      </p:sp>
      <p:sp>
        <p:nvSpPr>
          <p:cNvPr id="49" name="Text 47"/>
          <p:cNvSpPr/>
          <p:nvPr/>
        </p:nvSpPr>
        <p:spPr>
          <a:xfrm>
            <a:off x="8558784" y="3346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F-TRACE-01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558784" y="357530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agent-trace panel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339328" y="3986784"/>
            <a:ext cx="118872" cy="118872"/>
          </a:xfrm>
          <a:prstGeom prst="ellipse">
            <a:avLst/>
          </a:prstGeom>
          <a:solidFill>
            <a:srgbClr val="7C8AA5"/>
          </a:solidFill>
          <a:ln/>
        </p:spPr>
      </p:sp>
      <p:sp>
        <p:nvSpPr>
          <p:cNvPr id="52" name="Text 50"/>
          <p:cNvSpPr/>
          <p:nvPr/>
        </p:nvSpPr>
        <p:spPr>
          <a:xfrm>
            <a:off x="8558784" y="391363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F-EVAL-01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558784" y="41422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scripted eval scenarios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40080" y="534924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1024128" y="5495544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one of the thirteen is required for the MVP demo.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4128" y="580644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are P0. Nothing in P1, P2 or OUT is scheduled — adding any of them requires a new PRD revision.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0080" y="641908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§4 P0 — Core Features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37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MVP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coordinator, four specialists, one exit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07040" y="658368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6583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sees one assistant. Behind it, Triage picks exactly one specialist per turn — and every specialist can escalate.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93492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220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964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0" y="3479292"/>
            <a:ext cx="603504" cy="0"/>
          </a:xfrm>
          <a:prstGeom prst="line">
            <a:avLst/>
          </a:prstGeom>
          <a:noFill/>
          <a:ln w="25400">
            <a:solidFill>
              <a:srgbClr val="7C8A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6704" y="2286000"/>
            <a:ext cx="0" cy="2386584"/>
          </a:xfrm>
          <a:prstGeom prst="line">
            <a:avLst/>
          </a:prstGeom>
          <a:noFill/>
          <a:ln w="25400">
            <a:solidFill>
              <a:srgbClr val="7C8A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2286000"/>
            <a:ext cx="310896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196596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/ Policy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365760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6704" y="3081528"/>
            <a:ext cx="310896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2761488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825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081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items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081528"/>
            <a:ext cx="365760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46704" y="3877056"/>
            <a:ext cx="310896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57600" y="3557016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621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38770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benefits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877056"/>
            <a:ext cx="365760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46704" y="4672584"/>
            <a:ext cx="310896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57600" y="4352544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416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0" y="4672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only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672584"/>
            <a:ext cx="365760" cy="0"/>
          </a:xfrm>
          <a:prstGeom prst="line">
            <a:avLst/>
          </a:prstGeom>
          <a:noFill/>
          <a:ln w="19050">
            <a:solidFill>
              <a:srgbClr val="7C8A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2286000"/>
            <a:ext cx="0" cy="2386584"/>
          </a:xfrm>
          <a:prstGeom prst="line">
            <a:avLst/>
          </a:prstGeom>
          <a:noFill/>
          <a:ln w="25400">
            <a:solidFill>
              <a:srgbClr val="7C8A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2738628"/>
            <a:ext cx="292608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75120" y="4439412"/>
            <a:ext cx="292608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995160" y="2212848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995160" y="2414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99516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95160" y="3913632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E4572E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99516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+ summary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555480" y="1965960"/>
            <a:ext cx="1993392" cy="2999232"/>
          </a:xfrm>
          <a:prstGeom prst="roundRect">
            <a:avLst>
              <a:gd name="adj" fmla="val 3670"/>
            </a:avLst>
          </a:prstGeom>
          <a:solidFill>
            <a:srgbClr val="141B34"/>
          </a:solidFill>
          <a:ln/>
        </p:spPr>
      </p:sp>
      <p:sp>
        <p:nvSpPr>
          <p:cNvPr id="42" name="Text 40"/>
          <p:cNvSpPr/>
          <p:nvPr/>
        </p:nvSpPr>
        <p:spPr>
          <a:xfrm>
            <a:off x="9784080" y="2212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784080" y="2606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 be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or it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money,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escalates.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8408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534924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1024128" y="5495544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may follow Order in the same turn. No other specialist-to-specialist handoff exists.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24128" y="580644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terminal for the thread until the customer sends a new message.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641908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§3.1–3.3 — orchestration and permitted handoff edges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37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deliberately not building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was considered and cut. Naming them now is what keeps the MVP deliverable.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65576" cy="406908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76272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76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257860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only if time remains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31272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31272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order correlation soft-login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3584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5844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Promo-aware answers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40416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40416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“Similar open tickets” lookup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44988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44988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responses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" y="5212080"/>
            <a:ext cx="295351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3492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stretch goal, not a commitment.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61688" y="1920240"/>
            <a:ext cx="3465576" cy="406908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176272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7C8AA5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2176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57860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new PRD revision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31272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1272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 causal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3584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35844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agent copilot 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40416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0416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cancel write APIs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44988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4988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voice, social channels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49560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49560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 / Gorgias export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17720" y="54132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54132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83296" y="1920240"/>
            <a:ext cx="3465576" cy="406908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9328" y="2176272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E4572E"/>
          </a:solidFill>
          <a:ln/>
        </p:spPr>
      </p:sp>
      <p:sp>
        <p:nvSpPr>
          <p:cNvPr id="37" name="Text 35"/>
          <p:cNvSpPr/>
          <p:nvPr/>
        </p:nvSpPr>
        <p:spPr>
          <a:xfrm>
            <a:off x="8339328" y="2176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39328" y="2578608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at every tier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39328" y="31272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86216" y="31272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capture, refund execution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39328" y="3584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86216" y="35844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handling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39328" y="40416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86216" y="40416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analysis for app v3.2.0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39328" y="44988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86216" y="44988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real PII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339328" y="49560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86216" y="49560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secrets in git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39328" y="54132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86216" y="541324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human legal review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" y="641908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§4 — P1 / P2 / OUT-01 hard exclusions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37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will know the MVP worked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07040" y="658368"/>
            <a:ext cx="932688" cy="274320"/>
          </a:xfrm>
          <a:prstGeom prst="roundRect">
            <a:avLst>
              <a:gd name="adj" fmla="val 46667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6583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56260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2562606" cy="685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828800"/>
            <a:ext cx="2123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59536" y="263347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9536" y="2944368"/>
            <a:ext cx="2123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in-scope demo scripts resolved without a human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2142" y="1600200"/>
            <a:ext cx="256260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142" y="1600200"/>
            <a:ext cx="256260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41598" y="1828800"/>
            <a:ext cx="2123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41598" y="263347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41598" y="2944368"/>
            <a:ext cx="2123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auto-resolved answers cite a tool or policy source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4204" y="1600200"/>
            <a:ext cx="256260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4204" y="1600200"/>
            <a:ext cx="2562606" cy="68580"/>
          </a:xfrm>
          <a:prstGeom prst="rect">
            <a:avLst/>
          </a:prstGeom>
          <a:solidFill>
            <a:srgbClr val="7C8AA5"/>
          </a:solidFill>
          <a:ln/>
        </p:spPr>
      </p:sp>
      <p:sp>
        <p:nvSpPr>
          <p:cNvPr id="18" name="Text 16"/>
          <p:cNvSpPr/>
          <p:nvPr/>
        </p:nvSpPr>
        <p:spPr>
          <a:xfrm>
            <a:off x="6423660" y="1828800"/>
            <a:ext cx="2123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23660" y="263347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complete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23660" y="2944368"/>
            <a:ext cx="2123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carries intent, entities, steps tried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86266" y="1600200"/>
            <a:ext cx="256260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86266" y="1600200"/>
            <a:ext cx="2562606" cy="685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/>
          <p:nvPr/>
        </p:nvSpPr>
        <p:spPr>
          <a:xfrm>
            <a:off x="9205722" y="1828800"/>
            <a:ext cx="21236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205722" y="2633472"/>
            <a:ext cx="2123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actions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05722" y="2944368"/>
            <a:ext cx="2123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movement or fabricated totals — hard CI fail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224528"/>
            <a:ext cx="10908792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SUPPORTING BAR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4809744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sec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24128" y="523036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59302" y="4809744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3.5 / 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3559302" y="523036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on resolved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94476" y="4809744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094476" y="523036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29650" y="4809744"/>
            <a:ext cx="23980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green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629650" y="5230368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in CI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641908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§7 — Success Metrics &amp; KPIs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37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are, and what happens next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65576" cy="2011680"/>
          </a:xfrm>
          <a:prstGeom prst="roundRect">
            <a:avLst>
              <a:gd name="adj" fmla="val 363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66544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MRD, PRD and SAD finalized and frozen. 13 P0 features locked.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46557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75564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008" y="2066544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36008" y="256032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only, in four isolated modules: core config → API → frontend → validation.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554480"/>
            <a:ext cx="346557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755648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57616" y="2066544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QA gate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57616" y="256032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config, CI pipeline, runbook and user guide. No live deploy without sign-off.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success bar is a working demo with a green eval suite — not a production SLA.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37083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 ARE ALREADY MANAGING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81888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 is 2024-dated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062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date offset makes every demo current. Designed and validated against the real DB.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29437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30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latency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06240" y="5230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of 4 specialist hops and a 60-second turn budget, then force-escalate.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76986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05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policy or totals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06240" y="5705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must cite a tool or policy source, or the turn escalates instead.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§8 Implementation Strategy; Capstone timeline realism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MVP boundary.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13 P0 features and nothing else. P1 only if time remains. P2 needs a new PRD revision. OUT stays out.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862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4480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P0 features are the complete build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38862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4480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movement in any MVP path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38862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0" y="4480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green evals is the success bar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project-context/1.define/prd.md · sad.md · mrd.md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NovaMart Support Crew — PRD Scope</dc:title>
  <dc:subject>PptxGenJS Presentation</dc:subject>
  <dc:creator>NovaMart Capstone</dc:creator>
  <cp:lastModifiedBy>NovaMart Capstone</cp:lastModifiedBy>
  <cp:revision>1</cp:revision>
  <dcterms:created xsi:type="dcterms:W3CDTF">2026-08-09T04:37:02Z</dcterms:created>
  <dcterms:modified xsi:type="dcterms:W3CDTF">2026-08-09T04:37:02Z</dcterms:modified>
</cp:coreProperties>
</file>