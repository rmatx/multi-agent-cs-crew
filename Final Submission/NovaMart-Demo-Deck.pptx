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~4:30 total. Don't read the slides.
BEFORE YOU START: open the URL 5 min early (cold start ~15s), authenticate once, run one throwaway turn then press Reset. Do NOT push to main beforehand — a deploy swap kills in-flight requests. Fallback tab: week5/assets/demo-capture.pdf.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30s.
• Retail support inbox: order status, returns, membership. High volume, low complexity, a human reads every one.
• The tickets that hurt aren't hard — they're repetitive and time-sensitive.
• Two failure modes, and they're opposite: a bot that invents an answer about someone's money, and a bot that escalates everything and saves nobody any time.
• So the bar isn't 'can an LLM answer this'. It's 'can it know when it's not allowed to.'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45s.
• Claude Agent SDK. triage-router classifies and delegates; only agent the customer hears — one voice by construction.
• Five specialists, one per turn, max 4 hops.
• Nine tools behind an in-process MCP server — real reads against DuckDB and a policy corpus. Every customer-facing fact traces to a tool result.
• THE CALLOUT: no refund/cancel/payment tool exists in the process. Not prompt-level — capability-level.
• Four independent layers: nothing bound / startup assertion / CI test that fails when a tool is ADDED / runtime hook denies.
• Same idea for delegation: a prompt injection can't talk its way into a tool that was never bound.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2:30. SWITCH TO THE BROWSER. Leave this slide up behind it.
Pick both from the scenario picker — say out loud it only fills the form, you still press Run.
TURN 1 (~14s) — narrate the wait, the UI does the work:
  chat column: 'Returns advisor · checking NovaMart policy'
  crew strip lights Returns advisor; trace counts 1 hop · 3 tool calls
  Result: resolved, inside the 14-day window.
  Point at Sources: duckdb:orders:43004, duckdb:order_items:43004, policy:returns#return-window.
  'It didn't recall the return policy. It read it, and it'll tell you which section.'
TURN 2 (~25s) — THE MOMENT:
  'Returns advisor · checking policy' → 'Escalation · writing the handoff'
  crew strip hands Returns advisor → Escalation; trace 2 hops · 5 tool calls
  now includes create_ticket_stub and format_handoff_summary
  Result: escalated, real ticket STUB-…, reason restricted_action.
  Open the handoff packet — what the human receives.
SPARE 20s: click 'Refund request' — escalates because no refund tool exists to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 to slides after the demo, or leave the browser up and say this over it.
The line to land: 'Three days apart, opposite answers. It didn't get more confident as it got closer to the boundary — it stopped. That's the behaviour I was actually building for.'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30s. The honest one.
• I shipped a demo-mode feature flag the deployed container could never read.
• NEXT_PUBLIC_* is inlined by the compiler at BUILD time. Setting it in the platform's variable table changes nothing — the built bundle never looks.
• So the crew strip and picker were 'missing in production' while present in every build. I was debugging the deployment; the bug was in what 'runtime config' means.
• Fix: server-read var reported through /api/health — the app tells you which surface it's serving.
ALTERNATE (if the room is more agent-design than infra): prompts can't remove capabilities. I wrote careful instructions telling specialists not to delegate, then realised the only version that survives an injection is not giving them the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15s. Don't oversell — the honest version lands better.
• Harden first, already written down as accepted risk: no authentication. Any caller can read any customer's order, order ids are sequential integers (SEC-01/02). That’s the gate before real data.
• Then PRD Phase 2 F-WRITE-01 — refund/cancel write APIs. First feature needing HITL by design.
• One open accepted defect, DEF-14 — grounding gate too eager. Fails cautiously.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for Q&amp;A.
LIKELY QUESTIONS:
• Hallucination? Grounding guard + citations; every fact traces to a tool result. DEF-14 is that gate firing too eagerly — I kept it.
• Why not one big agent? Tool permissions. Least-privilege per specialist only means something if roles are separate.
• Latency? 13-15s resolved, ~25s escalated. p95 30.4s single-user. Concurrency untested — honest, not hidden.
• Real data? Real schema, synthetic fixture. Dates shift onto today's calendar so '12 days ago' stays true.
• Cost? Public URL runs the keyless engine — a stranger can't spend my key. Crew runs only behind the password.
IF THE DEMO BREAKS: don't debug on camera. 'Deployed demo, live model call — let me show the capture.' Open week5/assets/demo-capture.pdf and keep narrating.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6372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9EC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NovaMart Support Crew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6372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multi-agent support crew that knows when to stop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 </a:t>
            </a:r>
            <a:pPr indent="0" marL="0">
              <a:buNone/>
            </a:pPr>
            <a:r>
              <a:rPr lang="en-US" sz="1300" dirty="0">
                <a:solidFill>
                  <a:srgbClr val="E9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multi-agent-cs-crew-production.up.railway.app/final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580644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 SDK  ·  6 agents  ·  9 tools  ·  built with AAMAD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pPr indent="0" marL="0">
              <a:buNone/>
            </a:pPr>
            <a:r>
              <a:rPr lang="en-US" sz="1200" spc="100" kern="0" dirty="0">
                <a:solidFill>
                  <a:srgbClr val="AEB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C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ways to get support wrong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1627632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support: order status, returns, membership. High volume, low complexity — and a human reads every one.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5090008" cy="1828800"/>
          </a:xfrm>
          <a:prstGeom prst="roundRect">
            <a:avLst>
              <a:gd name="adj" fmla="val 3000"/>
            </a:avLst>
          </a:prstGeom>
          <a:solidFill>
            <a:srgbClr val="161A24"/>
          </a:solidFill>
          <a:ln w="12700">
            <a:solidFill>
              <a:srgbClr val="5B25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542032"/>
            <a:ext cx="444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971800"/>
            <a:ext cx="44499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confidently about someone’s refund. Fast, helpful, and occasionally wrong about money.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70168" y="2331720"/>
            <a:ext cx="5090008" cy="1828800"/>
          </a:xfrm>
          <a:prstGeom prst="roundRect">
            <a:avLst>
              <a:gd name="adj" fmla="val 3000"/>
            </a:avLst>
          </a:prstGeom>
          <a:solidFill>
            <a:srgbClr val="161A24"/>
          </a:solidFill>
          <a:ln w="12700">
            <a:solidFill>
              <a:srgbClr val="3A3A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0208" y="2542032"/>
            <a:ext cx="444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EB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ESCALATES EVERYTHING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90208" y="2971800"/>
            <a:ext cx="44499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wrong, never useful. The queue is exactly as long as it was before.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617720"/>
            <a:ext cx="106372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bar isn’t “can an LLM answer this”. It’s “can it know when it’s not allowed to.”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pPr indent="0" marL="0">
              <a:buNone/>
            </a:pPr>
            <a:r>
              <a:rPr lang="en-US" sz="1200" spc="100" kern="0" dirty="0">
                <a:solidFill>
                  <a:srgbClr val="AEB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APPROACH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C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Capability, not instruction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162763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Agent SDK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triage-router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04872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— the only voice the customer hears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862072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specialists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11810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· returns · policy · membership · escalation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575304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per turn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83133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4 hops, counted by the runtime not the 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288536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tools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54456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MCP over DuckDB + policy corpus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0" y="1627632"/>
            <a:ext cx="5790895" cy="3703320"/>
          </a:xfrm>
          <a:prstGeom prst="roundRect">
            <a:avLst>
              <a:gd name="adj" fmla="val 1481"/>
            </a:avLst>
          </a:prstGeom>
          <a:solidFill>
            <a:srgbClr val="1A1530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874520"/>
            <a:ext cx="50593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9EC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There is no refund tool.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035040" y="2304288"/>
            <a:ext cx="5059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cancel tool. No payment tool. Not anywhere in the process.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35040" y="2816352"/>
            <a:ext cx="5059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“the prompt says don’t”.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capability does not exist.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5040" y="361188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10528" y="3611880"/>
            <a:ext cx="4556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bound in the process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035040" y="40142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10528" y="4014216"/>
            <a:ext cx="4556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assertion that throws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035040" y="44165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10528" y="4416552"/>
            <a:ext cx="4556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test that fails when a tool is added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03504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10528" y="4818888"/>
            <a:ext cx="4556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hook that denies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2960" y="5486400"/>
            <a:ext cx="106372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Specialists can’t delegate either — the Agent tool is absent from their list, not forbidden.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pPr indent="0" marL="0">
              <a:buNone/>
            </a:pPr>
            <a:r>
              <a:rPr lang="en-US" sz="1200" spc="100" kern="0" dirty="0">
                <a:solidFill>
                  <a:srgbClr val="AEB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6372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9EC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106372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 1</a:t>
            </a:r>
            <a:pPr indent="0" marL="0">
              <a:buNone/>
            </a:pPr>
            <a:r>
              <a:rPr lang="en-US" sz="180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order 43004  ·  12 days ago  →  resolved, with citations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106372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 2</a:t>
            </a:r>
            <a:pPr indent="0" marL="0">
              <a:buNone/>
            </a:pPr>
            <a:r>
              <a:rPr lang="en-US" sz="180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order 42319  ·  15 days ago  →  escalated to a human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80060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question. Same specialist. Three days of difference.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pPr indent="0" marL="0">
              <a:buNone/>
            </a:pPr>
            <a:r>
              <a:rPr lang="en-US" sz="1200" spc="100" kern="0" dirty="0">
                <a:solidFill>
                  <a:srgbClr val="AEB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THE MOMENT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C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days apart, opposite answers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5090008" cy="3017520"/>
          </a:xfrm>
          <a:prstGeom prst="roundRect">
            <a:avLst>
              <a:gd name="adj" fmla="val 1818"/>
            </a:avLst>
          </a:prstGeom>
          <a:solidFill>
            <a:srgbClr val="161A24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28800"/>
            <a:ext cx="5090008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084832"/>
            <a:ext cx="4358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9EC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days ago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188720" y="2578608"/>
            <a:ext cx="4358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3127248"/>
            <a:ext cx="435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returns-advisor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3584448"/>
            <a:ext cx="435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hop  ·  3 tool calls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4041648"/>
            <a:ext cx="435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duckdb:orders  ·  policy:returns#return-window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70168" y="1828800"/>
            <a:ext cx="5090008" cy="3017520"/>
          </a:xfrm>
          <a:prstGeom prst="roundRect">
            <a:avLst>
              <a:gd name="adj" fmla="val 1818"/>
            </a:avLst>
          </a:prstGeom>
          <a:solidFill>
            <a:srgbClr val="161A2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70168" y="1828800"/>
            <a:ext cx="5090008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6735928" y="2084832"/>
            <a:ext cx="4358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9EC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days ago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735928" y="2578608"/>
            <a:ext cx="4358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escalated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35928" y="3127248"/>
            <a:ext cx="435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returns-advisor → escalation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35928" y="3584448"/>
            <a:ext cx="435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hops  ·  5 tool calls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35928" y="4041648"/>
            <a:ext cx="435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STUB-AA033434  ·  restricted_action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5120640"/>
            <a:ext cx="106372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didn’t get more confident as it got closer to the boundary. It stopped.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pPr indent="0" marL="0">
              <a:buNone/>
            </a:pPr>
            <a:r>
              <a:rPr lang="en-US" sz="1200" spc="100" kern="0" dirty="0">
                <a:solidFill>
                  <a:srgbClr val="AEB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WHAT I LEARNED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C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shipped a flag the container couldn’t read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10637215" cy="1051560"/>
          </a:xfrm>
          <a:prstGeom prst="roundRect">
            <a:avLst>
              <a:gd name="adj" fmla="val 5217"/>
            </a:avLst>
          </a:prstGeom>
          <a:solidFill>
            <a:srgbClr val="1A1530"/>
          </a:solidFill>
          <a:ln w="12700">
            <a:solidFill>
              <a:srgbClr val="262B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901952"/>
            <a:ext cx="9905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NEXT_PUBLIC_DEMO_MODE=1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88720" y="2304288"/>
            <a:ext cx="990569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inlined by the compiler at build time — a deployed image never looks at it again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31043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symptom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80360" y="3063240"/>
            <a:ext cx="85798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strip and scenario picker “missing in production” — while present in every build.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376275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hours lost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80360" y="3721608"/>
            <a:ext cx="85798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the deployment. The bug was in what I thought “runtime config” meant.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442112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fix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4379976"/>
            <a:ext cx="85798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server-read variable, reported through /api/health. The app now tells you which surface it serves.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5230368"/>
            <a:ext cx="106372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agent system’s config has to be inspectable at runtime — or you’re debugging by redeploy.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pPr indent="0" marL="0">
              <a:buNone/>
            </a:pPr>
            <a:r>
              <a:rPr lang="en-US" sz="1200" spc="100" kern="0" dirty="0">
                <a:solidFill>
                  <a:srgbClr val="AEB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WHAT COMES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C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Harden the thing I already wrote down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420624" cy="420624"/>
          </a:xfrm>
          <a:prstGeom prst="ellipse">
            <a:avLst/>
          </a:prstGeom>
          <a:solidFill>
            <a:srgbClr val="161A24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81328" y="1755648"/>
            <a:ext cx="997884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C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authentication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81328" y="2112264"/>
            <a:ext cx="981425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caller can read any order — and order ids are sequential integers. Accepted risk (SEC-01/02); the gate before real data.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108960"/>
            <a:ext cx="420624" cy="420624"/>
          </a:xfrm>
          <a:prstGeom prst="ellipse">
            <a:avLst/>
          </a:prstGeom>
          <a:solidFill>
            <a:srgbClr val="161A24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08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81328" y="3081528"/>
            <a:ext cx="997884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C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F-WRITE-01  ·  PRD Phase 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481328" y="3438144"/>
            <a:ext cx="981425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and cancel write APIs. The first feature that needs a human in the loop by design rather than as a fallback.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434840"/>
            <a:ext cx="420624" cy="420624"/>
          </a:xfrm>
          <a:prstGeom prst="ellipse">
            <a:avLst/>
          </a:prstGeom>
          <a:solidFill>
            <a:srgbClr val="161A24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4348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81328" y="4407408"/>
            <a:ext cx="997884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C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DEF-14  ·  open, accepted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481328" y="4764024"/>
            <a:ext cx="981425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 policy retrieval scored under the grounding gate and escalated. It fails cautiously — the right direction to fail.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pPr indent="0" marL="0">
              <a:buNone/>
            </a:pPr>
            <a:r>
              <a:rPr lang="en-US" sz="1200" spc="100" kern="0" dirty="0">
                <a:solidFill>
                  <a:srgbClr val="AEB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TRY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9EC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it yourself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10637215" cy="1234440"/>
          </a:xfrm>
          <a:prstGeom prst="roundRect">
            <a:avLst>
              <a:gd name="adj" fmla="val 4444"/>
            </a:avLst>
          </a:prstGeom>
          <a:solidFill>
            <a:srgbClr val="1A1530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633472"/>
            <a:ext cx="9905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multi-agent-cs-crew-production.up.railway.app/final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88720" y="3108960"/>
            <a:ext cx="9905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 </a:t>
            </a:r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 verbally</a:t>
            </a:r>
            <a:pPr indent="0" marL="0">
              <a:buNone/>
            </a:pPr>
            <a:r>
              <a:rPr lang="en-US" sz="1400" dirty="0">
                <a:solidFill>
                  <a:srgbClr val="AEB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any username 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23-scenario test workbook downloads from that page — expected agent, status and ids for every case.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github.com/rmatx/multi-agent-cs-crew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76072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 tests  ·  55 acceptance criteria: 46 pass / 5 partial / 1 not covered / 3 by-absence  ·  19 ADRs  ·  1 open defect, accepted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NovaMart Support Crew</dc:title>
  <dc:subject>PptxGenJS Presentation</dc:subject>
  <dc:creator>Raj M</dc:creator>
  <cp:lastModifiedBy>Raj M</cp:lastModifiedBy>
  <cp:revision>1</cp:revision>
  <dcterms:created xsi:type="dcterms:W3CDTF">2026-09-10T03:11:43Z</dcterms:created>
  <dcterms:modified xsi:type="dcterms:W3CDTF">2026-09-10T03:11:43Z</dcterms:modified>
</cp:coreProperties>
</file>